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3" d="100"/>
          <a:sy n="13" d="100"/>
        </p:scale>
        <p:origin x="1476"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193FF6-F4F7-4A27-BA84-B7D7B3D1871E}"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1569452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93FF6-F4F7-4A27-BA84-B7D7B3D1871E}"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386844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193FF6-F4F7-4A27-BA84-B7D7B3D1871E}"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7863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193FF6-F4F7-4A27-BA84-B7D7B3D1871E}"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1099943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193FF6-F4F7-4A27-BA84-B7D7B3D1871E}"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2915672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193FF6-F4F7-4A27-BA84-B7D7B3D1871E}"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3782461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193FF6-F4F7-4A27-BA84-B7D7B3D1871E}"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1862114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CF193FF6-F4F7-4A27-BA84-B7D7B3D1871E}"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3042581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CF193FF6-F4F7-4A27-BA84-B7D7B3D1871E}"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1273792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93FF6-F4F7-4A27-BA84-B7D7B3D1871E}"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3834893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93FF6-F4F7-4A27-BA84-B7D7B3D1871E}"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A792B-F961-474A-9DA5-E928A7FE434D}" type="slidenum">
              <a:rPr lang="en-US" smtClean="0"/>
              <a:t>‹#›</a:t>
            </a:fld>
            <a:endParaRPr lang="en-US"/>
          </a:p>
        </p:txBody>
      </p:sp>
    </p:spTree>
    <p:extLst>
      <p:ext uri="{BB962C8B-B14F-4D97-AF65-F5344CB8AC3E}">
        <p14:creationId xmlns:p14="http://schemas.microsoft.com/office/powerpoint/2010/main" val="626148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CF193FF6-F4F7-4A27-BA84-B7D7B3D1871E}" type="datetimeFigureOut">
              <a:rPr lang="en-US" smtClean="0"/>
              <a:t>4/28/2026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19AA792B-F961-474A-9DA5-E928A7FE434D}" type="slidenum">
              <a:rPr lang="en-US" smtClean="0"/>
              <a:t>‹#›</a:t>
            </a:fld>
            <a:endParaRPr lang="en-US"/>
          </a:p>
        </p:txBody>
      </p:sp>
    </p:spTree>
    <p:extLst>
      <p:ext uri="{BB962C8B-B14F-4D97-AF65-F5344CB8AC3E}">
        <p14:creationId xmlns:p14="http://schemas.microsoft.com/office/powerpoint/2010/main" val="20957909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rgbClr val="FFFF00">
                <a:alpha val="61000"/>
                <a:lumMod val="91000"/>
              </a:srgbClr>
            </a:gs>
            <a:gs pos="32000">
              <a:schemeClr val="bg1">
                <a:lumMod val="95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EFA314-330B-095F-21F1-7C047F763096}"/>
              </a:ext>
            </a:extLst>
          </p:cNvPr>
          <p:cNvSpPr/>
          <p:nvPr/>
        </p:nvSpPr>
        <p:spPr>
          <a:xfrm>
            <a:off x="264221" y="6151917"/>
            <a:ext cx="13553380" cy="168604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7000" dirty="0">
                <a:latin typeface="Times New Roman" panose="02020603050405020304" pitchFamily="18" charset="0"/>
                <a:cs typeface="Times New Roman" panose="02020603050405020304" pitchFamily="18" charset="0"/>
              </a:rPr>
              <a:t>Reddit is a popular social media platform where users can post content and comment on a variety of topics. This project involves collecting data from various Reddit subreddits to gain insights about popular topics and user interaction. Through the analysis of post titles and comments counts, the project seeks to discover popular topics. Through data analysis and visualization, the project offers insights into the success of content and user interactions on Reddit.</a:t>
            </a:r>
            <a:endParaRPr lang="en-US" sz="70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F4FE610D-9E81-D810-C7FC-A40EBFF3C58D}"/>
              </a:ext>
            </a:extLst>
          </p:cNvPr>
          <p:cNvSpPr/>
          <p:nvPr/>
        </p:nvSpPr>
        <p:spPr>
          <a:xfrm>
            <a:off x="335310" y="4116993"/>
            <a:ext cx="13258800" cy="16684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0" b="1" dirty="0">
                <a:solidFill>
                  <a:schemeClr val="tx1"/>
                </a:solidFill>
              </a:rPr>
              <a:t>Introduction</a:t>
            </a:r>
          </a:p>
        </p:txBody>
      </p:sp>
      <p:sp>
        <p:nvSpPr>
          <p:cNvPr id="4" name="Rectangle 3">
            <a:extLst>
              <a:ext uri="{FF2B5EF4-FFF2-40B4-BE49-F238E27FC236}">
                <a16:creationId xmlns:a16="http://schemas.microsoft.com/office/drawing/2014/main" id="{162253D5-BD83-A2CB-7E68-6AF0002F5990}"/>
              </a:ext>
            </a:extLst>
          </p:cNvPr>
          <p:cNvSpPr/>
          <p:nvPr/>
        </p:nvSpPr>
        <p:spPr>
          <a:xfrm>
            <a:off x="180393" y="26220762"/>
            <a:ext cx="13413718" cy="634203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7000" dirty="0">
                <a:latin typeface="Times New Roman" panose="02020603050405020304" pitchFamily="18" charset="0"/>
                <a:cs typeface="Times New Roman" panose="02020603050405020304" pitchFamily="18" charset="0"/>
              </a:rPr>
              <a:t>Data collected with Python using the Reddit API. Title and number of comments were collected. Used spaCy to clean the text and matplotlib to generate to the plots</a:t>
            </a:r>
            <a:endParaRPr lang="en-US" sz="7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96CC91BA-E35D-B502-9849-3B9343F8039C}"/>
              </a:ext>
            </a:extLst>
          </p:cNvPr>
          <p:cNvSpPr/>
          <p:nvPr/>
        </p:nvSpPr>
        <p:spPr>
          <a:xfrm>
            <a:off x="264221" y="23651380"/>
            <a:ext cx="13553380" cy="19304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0" b="1" dirty="0">
                <a:solidFill>
                  <a:schemeClr val="tx1"/>
                </a:solidFill>
              </a:rPr>
              <a:t>Methodology</a:t>
            </a:r>
            <a:r>
              <a:rPr lang="en-US" sz="10000" dirty="0"/>
              <a:t> </a:t>
            </a:r>
          </a:p>
        </p:txBody>
      </p:sp>
      <p:sp>
        <p:nvSpPr>
          <p:cNvPr id="10" name="Rectangle: Rounded Corners 9">
            <a:extLst>
              <a:ext uri="{FF2B5EF4-FFF2-40B4-BE49-F238E27FC236}">
                <a16:creationId xmlns:a16="http://schemas.microsoft.com/office/drawing/2014/main" id="{A798E56F-C22D-CCD8-8BFF-DD7FF7C54754}"/>
              </a:ext>
            </a:extLst>
          </p:cNvPr>
          <p:cNvSpPr/>
          <p:nvPr/>
        </p:nvSpPr>
        <p:spPr>
          <a:xfrm>
            <a:off x="14320643" y="4116993"/>
            <a:ext cx="18356115" cy="16684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0" b="1" dirty="0">
                <a:solidFill>
                  <a:schemeClr val="tx1"/>
                </a:solidFill>
              </a:rPr>
              <a:t>Data Analysis and Results</a:t>
            </a:r>
          </a:p>
        </p:txBody>
      </p:sp>
      <p:sp>
        <p:nvSpPr>
          <p:cNvPr id="24" name="Rectangle: Rounded Corners 23">
            <a:extLst>
              <a:ext uri="{FF2B5EF4-FFF2-40B4-BE49-F238E27FC236}">
                <a16:creationId xmlns:a16="http://schemas.microsoft.com/office/drawing/2014/main" id="{C031610B-8E07-3B90-58FF-A100F0B183C1}"/>
              </a:ext>
            </a:extLst>
          </p:cNvPr>
          <p:cNvSpPr/>
          <p:nvPr/>
        </p:nvSpPr>
        <p:spPr>
          <a:xfrm>
            <a:off x="33403289" y="4116993"/>
            <a:ext cx="10307518" cy="166843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0" b="1" dirty="0">
                <a:solidFill>
                  <a:schemeClr val="tx1"/>
                </a:solidFill>
              </a:rPr>
              <a:t>Conclusion</a:t>
            </a:r>
          </a:p>
        </p:txBody>
      </p:sp>
      <p:sp>
        <p:nvSpPr>
          <p:cNvPr id="39" name="Rectangle 38">
            <a:extLst>
              <a:ext uri="{FF2B5EF4-FFF2-40B4-BE49-F238E27FC236}">
                <a16:creationId xmlns:a16="http://schemas.microsoft.com/office/drawing/2014/main" id="{B139CCCC-85F8-7AA2-3071-1F63E9D97D76}"/>
              </a:ext>
            </a:extLst>
          </p:cNvPr>
          <p:cNvSpPr/>
          <p:nvPr/>
        </p:nvSpPr>
        <p:spPr>
          <a:xfrm>
            <a:off x="14074196" y="6151916"/>
            <a:ext cx="11428587" cy="119836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7000" dirty="0">
                <a:solidFill>
                  <a:schemeClr val="tx1"/>
                </a:solidFill>
                <a:latin typeface="Times New Roman" panose="02020603050405020304" pitchFamily="18" charset="0"/>
                <a:ea typeface="Calibri" panose="020F0502020204030204" pitchFamily="34" charset="0"/>
              </a:rPr>
              <a:t>The data is made up of the titles of Reddit posts and the number of comments received. It's in JSON form and stored as Python lists. The graphs display the top words in titles and number of comments. There appears to be a distribution of comments among posts, with some receiving more than others.</a:t>
            </a:r>
          </a:p>
        </p:txBody>
      </p:sp>
      <p:sp>
        <p:nvSpPr>
          <p:cNvPr id="48" name="Rectangle 47">
            <a:extLst>
              <a:ext uri="{FF2B5EF4-FFF2-40B4-BE49-F238E27FC236}">
                <a16:creationId xmlns:a16="http://schemas.microsoft.com/office/drawing/2014/main" id="{73E12B25-AE3C-CFE2-DC1A-9CB203524369}"/>
              </a:ext>
            </a:extLst>
          </p:cNvPr>
          <p:cNvSpPr/>
          <p:nvPr/>
        </p:nvSpPr>
        <p:spPr>
          <a:xfrm>
            <a:off x="25502783" y="6151916"/>
            <a:ext cx="7849784" cy="119836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7000" dirty="0">
                <a:solidFill>
                  <a:schemeClr val="tx1"/>
                </a:solidFill>
                <a:latin typeface="Times New Roman" panose="02020603050405020304" pitchFamily="18" charset="0"/>
                <a:ea typeface="Calibri" panose="020F0502020204030204" pitchFamily="34" charset="0"/>
              </a:rPr>
              <a:t>We found that hot topics can be found by looking in post titles for commonly used words.</a:t>
            </a:r>
          </a:p>
          <a:p>
            <a:pPr algn="ctr"/>
            <a:r>
              <a:rPr lang="en-US" sz="7000" dirty="0">
                <a:solidFill>
                  <a:schemeClr val="tx1"/>
                </a:solidFill>
                <a:latin typeface="Times New Roman" panose="02020603050405020304" pitchFamily="18" charset="0"/>
                <a:ea typeface="Calibri" panose="020F0502020204030204" pitchFamily="34" charset="0"/>
              </a:rPr>
              <a:t>Further, reader engagement is skewed with some posts having more comments than others.</a:t>
            </a:r>
          </a:p>
        </p:txBody>
      </p:sp>
      <p:sp>
        <p:nvSpPr>
          <p:cNvPr id="52" name="Rectangle 51">
            <a:extLst>
              <a:ext uri="{FF2B5EF4-FFF2-40B4-BE49-F238E27FC236}">
                <a16:creationId xmlns:a16="http://schemas.microsoft.com/office/drawing/2014/main" id="{80609957-8E5F-E737-A7B3-8DD7D656193C}"/>
              </a:ext>
            </a:extLst>
          </p:cNvPr>
          <p:cNvSpPr/>
          <p:nvPr/>
        </p:nvSpPr>
        <p:spPr>
          <a:xfrm>
            <a:off x="33609161" y="6151917"/>
            <a:ext cx="10017817" cy="264108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7000" dirty="0">
                <a:latin typeface="Times New Roman" panose="02020603050405020304" pitchFamily="18" charset="0"/>
                <a:cs typeface="Times New Roman" panose="02020603050405020304" pitchFamily="18" charset="0"/>
              </a:rPr>
              <a:t>This project analyzed Reddit data to identify trends and user engagement patterns. The results showed that a small number of keywords appear frequently in post titles, highlighting common topics across subreddits.</a:t>
            </a:r>
          </a:p>
          <a:p>
            <a:r>
              <a:rPr lang="en-US" sz="7000" dirty="0">
                <a:latin typeface="Times New Roman" panose="02020603050405020304" pitchFamily="18" charset="0"/>
                <a:cs typeface="Times New Roman" panose="02020603050405020304" pitchFamily="18" charset="0"/>
              </a:rPr>
              <a:t>The analysis of comments revealed that engagement is uneven, with some posts receiving significantly more interaction than others.</a:t>
            </a:r>
          </a:p>
          <a:p>
            <a:r>
              <a:rPr lang="en-US" sz="7000" dirty="0">
                <a:latin typeface="Times New Roman" panose="02020603050405020304" pitchFamily="18" charset="0"/>
                <a:cs typeface="Times New Roman" panose="02020603050405020304" pitchFamily="18" charset="0"/>
              </a:rPr>
              <a:t>Overall, the project demonstrates how data analysis and visualization can be used to understand online trends and user behavior on platforms like Reddit.</a:t>
            </a:r>
          </a:p>
        </p:txBody>
      </p:sp>
      <p:sp>
        <p:nvSpPr>
          <p:cNvPr id="67" name="TextBox 66">
            <a:extLst>
              <a:ext uri="{FF2B5EF4-FFF2-40B4-BE49-F238E27FC236}">
                <a16:creationId xmlns:a16="http://schemas.microsoft.com/office/drawing/2014/main" id="{2375DD34-74FC-D54A-D0C9-7B4FEF8F8AE7}"/>
              </a:ext>
            </a:extLst>
          </p:cNvPr>
          <p:cNvSpPr txBox="1"/>
          <p:nvPr/>
        </p:nvSpPr>
        <p:spPr>
          <a:xfrm>
            <a:off x="711200" y="188035"/>
            <a:ext cx="39484300" cy="2646878"/>
          </a:xfrm>
          <a:prstGeom prst="rect">
            <a:avLst/>
          </a:prstGeom>
          <a:noFill/>
        </p:spPr>
        <p:txBody>
          <a:bodyPr wrap="square">
            <a:spAutoFit/>
          </a:bodyPr>
          <a:lstStyle/>
          <a:p>
            <a:pPr algn="ctr"/>
            <a:r>
              <a:rPr lang="en-US" sz="16600" dirty="0"/>
              <a:t>Analysis of Trending Topics on Reddit</a:t>
            </a:r>
            <a:endParaRPr lang="en-US" sz="16600" b="1" dirty="0"/>
          </a:p>
        </p:txBody>
      </p:sp>
      <p:sp>
        <p:nvSpPr>
          <p:cNvPr id="14" name="TextBox 13">
            <a:extLst>
              <a:ext uri="{FF2B5EF4-FFF2-40B4-BE49-F238E27FC236}">
                <a16:creationId xmlns:a16="http://schemas.microsoft.com/office/drawing/2014/main" id="{EEE667B1-97C5-ADC6-B19C-19C40755B42A}"/>
              </a:ext>
            </a:extLst>
          </p:cNvPr>
          <p:cNvSpPr txBox="1"/>
          <p:nvPr/>
        </p:nvSpPr>
        <p:spPr>
          <a:xfrm>
            <a:off x="15708007" y="2730235"/>
            <a:ext cx="12475186" cy="1100013"/>
          </a:xfrm>
          <a:prstGeom prst="rect">
            <a:avLst/>
          </a:prstGeom>
          <a:noFill/>
        </p:spPr>
        <p:txBody>
          <a:bodyPr wrap="square" rtlCol="0">
            <a:spAutoFit/>
          </a:bodyPr>
          <a:lstStyle/>
          <a:p>
            <a:r>
              <a:rPr lang="en-US" sz="6600" dirty="0"/>
              <a:t>Noshitha Reddy Gudhibandi </a:t>
            </a:r>
          </a:p>
        </p:txBody>
      </p:sp>
      <p:pic>
        <p:nvPicPr>
          <p:cNvPr id="12" name="Picture 11">
            <a:extLst>
              <a:ext uri="{FF2B5EF4-FFF2-40B4-BE49-F238E27FC236}">
                <a16:creationId xmlns:a16="http://schemas.microsoft.com/office/drawing/2014/main" id="{11CECE45-3ED9-3CE6-0176-3C38C22A09A9}"/>
              </a:ext>
            </a:extLst>
          </p:cNvPr>
          <p:cNvPicPr>
            <a:picLocks noChangeAspect="1"/>
          </p:cNvPicPr>
          <p:nvPr/>
        </p:nvPicPr>
        <p:blipFill>
          <a:blip r:embed="rId2"/>
          <a:srcRect r="13904"/>
          <a:stretch>
            <a:fillRect/>
          </a:stretch>
        </p:blipFill>
        <p:spPr>
          <a:xfrm>
            <a:off x="14032635" y="18365150"/>
            <a:ext cx="10017818" cy="14197649"/>
          </a:xfrm>
          <a:prstGeom prst="rect">
            <a:avLst/>
          </a:prstGeom>
        </p:spPr>
      </p:pic>
      <p:pic>
        <p:nvPicPr>
          <p:cNvPr id="16" name="Picture 15">
            <a:extLst>
              <a:ext uri="{FF2B5EF4-FFF2-40B4-BE49-F238E27FC236}">
                <a16:creationId xmlns:a16="http://schemas.microsoft.com/office/drawing/2014/main" id="{0CBA9467-6ED0-CD28-ABF4-AA053929B628}"/>
              </a:ext>
            </a:extLst>
          </p:cNvPr>
          <p:cNvPicPr>
            <a:picLocks noChangeAspect="1"/>
          </p:cNvPicPr>
          <p:nvPr/>
        </p:nvPicPr>
        <p:blipFill>
          <a:blip r:embed="rId3"/>
          <a:srcRect r="23489"/>
          <a:stretch>
            <a:fillRect/>
          </a:stretch>
        </p:blipFill>
        <p:spPr>
          <a:xfrm>
            <a:off x="24050454" y="18365150"/>
            <a:ext cx="9302114" cy="14365215"/>
          </a:xfrm>
          <a:prstGeom prst="rect">
            <a:avLst/>
          </a:prstGeom>
        </p:spPr>
      </p:pic>
    </p:spTree>
    <p:extLst>
      <p:ext uri="{BB962C8B-B14F-4D97-AF65-F5344CB8AC3E}">
        <p14:creationId xmlns:p14="http://schemas.microsoft.com/office/powerpoint/2010/main" val="3984534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891200" cy="32918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8" y="0"/>
            <a:ext cx="43890102" cy="32918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C0405F1-7A6F-F832-F95D-F01BFE5B01C3}"/>
              </a:ext>
            </a:extLst>
          </p:cNvPr>
          <p:cNvSpPr txBox="1"/>
          <p:nvPr/>
        </p:nvSpPr>
        <p:spPr>
          <a:xfrm>
            <a:off x="2590801" y="4622801"/>
            <a:ext cx="18225300" cy="24469860"/>
          </a:xfrm>
          <a:prstGeom prst="rect">
            <a:avLst/>
          </a:prstGeom>
        </p:spPr>
        <p:txBody>
          <a:bodyPr vert="horz" lIns="91440" tIns="45720" rIns="91440" bIns="45720" rtlCol="0" anchor="ctr">
            <a:normAutofit/>
          </a:bodyPr>
          <a:lstStyle/>
          <a:p>
            <a:pPr lvl="1" indent="-228600" defTabSz="914400">
              <a:lnSpc>
                <a:spcPct val="90000"/>
              </a:lnSpc>
              <a:spcAft>
                <a:spcPts val="600"/>
              </a:spcAft>
              <a:buFont typeface="Arial" panose="020B0604020202020204" pitchFamily="34" charset="0"/>
              <a:buChar char="•"/>
            </a:pPr>
            <a:r>
              <a:rPr lang="en-US" sz="7000" b="1" dirty="0">
                <a:solidFill>
                  <a:schemeClr val="tx2"/>
                </a:solidFill>
              </a:rPr>
              <a:t>Where did you find it?</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Data was obtained from Reddit</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Accessed Reddit’s public JSON API</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Got data from subreddit such as news, games, and technology</a:t>
            </a:r>
          </a:p>
          <a:p>
            <a:pPr lvl="1" indent="-228600" defTabSz="914400">
              <a:lnSpc>
                <a:spcPct val="90000"/>
              </a:lnSpc>
              <a:spcAft>
                <a:spcPts val="600"/>
              </a:spcAft>
              <a:buFont typeface="Arial" panose="020B0604020202020204" pitchFamily="34" charset="0"/>
              <a:buChar char="•"/>
            </a:pPr>
            <a:r>
              <a:rPr lang="en-US" sz="7000" b="1" dirty="0">
                <a:solidFill>
                  <a:schemeClr val="tx2"/>
                </a:solidFill>
              </a:rPr>
              <a:t>How did you extract it? </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Used Python programming language</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Created the GET request with the request library</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Accessed Reddit JSON endpoints</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Included a user-agent in the request</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Analyzed the JSON response</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Extracted  interesting fields (titles, comments)</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Stored data in Python lists</a:t>
            </a:r>
          </a:p>
          <a:p>
            <a:pPr lvl="1" indent="-228600" defTabSz="914400">
              <a:lnSpc>
                <a:spcPct val="90000"/>
              </a:lnSpc>
              <a:spcAft>
                <a:spcPts val="600"/>
              </a:spcAft>
              <a:buFont typeface="Arial" panose="020B0604020202020204" pitchFamily="34" charset="0"/>
              <a:buChar char="•"/>
            </a:pPr>
            <a:r>
              <a:rPr lang="en-US" sz="7000" b="1" dirty="0">
                <a:solidFill>
                  <a:schemeClr val="tx2"/>
                </a:solidFill>
              </a:rPr>
              <a:t>What data was available?</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Post titles</a:t>
            </a:r>
          </a:p>
          <a:p>
            <a:pPr lvl="1" indent="-228600" defTabSz="914400">
              <a:lnSpc>
                <a:spcPct val="90000"/>
              </a:lnSpc>
              <a:spcAft>
                <a:spcPts val="600"/>
              </a:spcAft>
              <a:buFont typeface="Arial" panose="020B0604020202020204" pitchFamily="34" charset="0"/>
              <a:buChar char="•"/>
            </a:pPr>
            <a:r>
              <a:rPr lang="en-US" sz="7000" dirty="0">
                <a:solidFill>
                  <a:schemeClr val="tx2"/>
                </a:solidFill>
              </a:rPr>
              <a:t>Number of comments</a:t>
            </a:r>
          </a:p>
        </p:txBody>
      </p:sp>
      <p:grpSp>
        <p:nvGrpSpPr>
          <p:cNvPr id="32" name="Group 31">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31629" y="0"/>
            <a:ext cx="20959571" cy="32089281"/>
            <a:chOff x="6357228" y="0"/>
            <a:chExt cx="5822103" cy="6685267"/>
          </a:xfrm>
        </p:grpSpPr>
        <p:sp>
          <p:nvSpPr>
            <p:cNvPr id="33" name="Freeform: Shape 32">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Graphic 8" descr="Programmer">
            <a:extLst>
              <a:ext uri="{FF2B5EF4-FFF2-40B4-BE49-F238E27FC236}">
                <a16:creationId xmlns:a16="http://schemas.microsoft.com/office/drawing/2014/main" id="{4938F289-3619-2593-A825-B46B08A541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9162955" y="9916381"/>
            <a:ext cx="13182592" cy="13182592"/>
          </a:xfrm>
          <a:prstGeom prst="rect">
            <a:avLst/>
          </a:prstGeom>
        </p:spPr>
      </p:pic>
    </p:spTree>
    <p:extLst>
      <p:ext uri="{BB962C8B-B14F-4D97-AF65-F5344CB8AC3E}">
        <p14:creationId xmlns:p14="http://schemas.microsoft.com/office/powerpoint/2010/main" val="3811575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3890102" cy="32918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890102" cy="329184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628" y="-39201"/>
            <a:ext cx="17402652" cy="11943119"/>
            <a:chOff x="6867015" y="-1"/>
            <a:chExt cx="5324985" cy="3251912"/>
          </a:xfrm>
          <a:solidFill>
            <a:schemeClr val="bg1">
              <a:alpha val="30000"/>
            </a:schemeClr>
          </a:solidFill>
        </p:grpSpPr>
        <p:sp>
          <p:nvSpPr>
            <p:cNvPr id="46" name="Freeform: Shape 45">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a:extLst>
              <a:ext uri="{FF2B5EF4-FFF2-40B4-BE49-F238E27FC236}">
                <a16:creationId xmlns:a16="http://schemas.microsoft.com/office/drawing/2014/main" id="{3657A43A-BE20-F188-BA2F-4D89CECB7587}"/>
              </a:ext>
            </a:extLst>
          </p:cNvPr>
          <p:cNvSpPr txBox="1"/>
          <p:nvPr/>
        </p:nvSpPr>
        <p:spPr>
          <a:xfrm>
            <a:off x="10981483" y="14300812"/>
            <a:ext cx="20554995" cy="11668148"/>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6500" dirty="0">
                <a:solidFill>
                  <a:schemeClr val="tx2"/>
                </a:solidFill>
              </a:rPr>
              <a:t>What did you have to do to clean the data? </a:t>
            </a:r>
          </a:p>
          <a:p>
            <a:pPr indent="-228600" defTabSz="914400">
              <a:lnSpc>
                <a:spcPct val="90000"/>
              </a:lnSpc>
              <a:spcAft>
                <a:spcPts val="600"/>
              </a:spcAft>
              <a:buFont typeface="Arial" panose="020B0604020202020204" pitchFamily="34" charset="0"/>
              <a:buChar char="•"/>
            </a:pPr>
            <a:r>
              <a:rPr lang="en-US" sz="6500" dirty="0">
                <a:solidFill>
                  <a:schemeClr val="tx2"/>
                </a:solidFill>
              </a:rPr>
              <a:t>Made all text lowercase</a:t>
            </a:r>
          </a:p>
          <a:p>
            <a:pPr indent="-228600" defTabSz="914400">
              <a:lnSpc>
                <a:spcPct val="90000"/>
              </a:lnSpc>
              <a:spcAft>
                <a:spcPts val="600"/>
              </a:spcAft>
              <a:buFont typeface="Arial" panose="020B0604020202020204" pitchFamily="34" charset="0"/>
              <a:buChar char="•"/>
            </a:pPr>
            <a:r>
              <a:rPr lang="en-US" sz="6500" dirty="0">
                <a:solidFill>
                  <a:schemeClr val="tx2"/>
                </a:solidFill>
              </a:rPr>
              <a:t>Removed stop words (spaCy)</a:t>
            </a:r>
          </a:p>
          <a:p>
            <a:pPr indent="-228600" defTabSz="914400">
              <a:lnSpc>
                <a:spcPct val="90000"/>
              </a:lnSpc>
              <a:spcAft>
                <a:spcPts val="600"/>
              </a:spcAft>
              <a:buFont typeface="Arial" panose="020B0604020202020204" pitchFamily="34" charset="0"/>
              <a:buChar char="•"/>
            </a:pPr>
            <a:r>
              <a:rPr lang="en-US" sz="6500" dirty="0">
                <a:solidFill>
                  <a:schemeClr val="tx2"/>
                </a:solidFill>
              </a:rPr>
              <a:t>Eliminated stop or short words</a:t>
            </a:r>
          </a:p>
          <a:p>
            <a:pPr indent="-228600" defTabSz="914400">
              <a:lnSpc>
                <a:spcPct val="90000"/>
              </a:lnSpc>
              <a:spcAft>
                <a:spcPts val="600"/>
              </a:spcAft>
              <a:buFont typeface="Arial" panose="020B0604020202020204" pitchFamily="34" charset="0"/>
              <a:buChar char="•"/>
            </a:pPr>
            <a:r>
              <a:rPr lang="en-US" sz="6500" dirty="0">
                <a:solidFill>
                  <a:schemeClr val="tx2"/>
                </a:solidFill>
              </a:rPr>
              <a:t>Removed unnecessary fields (user, content and date)</a:t>
            </a:r>
          </a:p>
          <a:p>
            <a:pPr indent="-228600" defTabSz="914400">
              <a:lnSpc>
                <a:spcPct val="90000"/>
              </a:lnSpc>
              <a:spcAft>
                <a:spcPts val="600"/>
              </a:spcAft>
              <a:buFont typeface="Arial" panose="020B0604020202020204" pitchFamily="34" charset="0"/>
              <a:buChar char="•"/>
            </a:pPr>
            <a:r>
              <a:rPr lang="en-US" sz="6500" dirty="0">
                <a:solidFill>
                  <a:schemeClr val="tx2"/>
                </a:solidFill>
              </a:rPr>
              <a:t>Stored data in Python lists</a:t>
            </a:r>
          </a:p>
          <a:p>
            <a:pPr indent="-228600" defTabSz="914400">
              <a:lnSpc>
                <a:spcPct val="90000"/>
              </a:lnSpc>
              <a:spcAft>
                <a:spcPts val="600"/>
              </a:spcAft>
              <a:buFont typeface="Arial" panose="020B0604020202020204" pitchFamily="34" charset="0"/>
              <a:buChar char="•"/>
            </a:pPr>
            <a:endParaRPr lang="en-US" sz="6500" dirty="0">
              <a:solidFill>
                <a:schemeClr val="tx2"/>
              </a:solidFill>
            </a:endParaRPr>
          </a:p>
          <a:p>
            <a:pPr indent="-228600" defTabSz="914400">
              <a:lnSpc>
                <a:spcPct val="90000"/>
              </a:lnSpc>
              <a:spcAft>
                <a:spcPts val="600"/>
              </a:spcAft>
              <a:buFont typeface="Arial" panose="020B0604020202020204" pitchFamily="34" charset="0"/>
              <a:buChar char="•"/>
            </a:pPr>
            <a:r>
              <a:rPr lang="en-US" sz="6500" dirty="0">
                <a:solidFill>
                  <a:schemeClr val="tx2"/>
                </a:solidFill>
              </a:rPr>
              <a:t>What statistics did you look at ? </a:t>
            </a:r>
          </a:p>
          <a:p>
            <a:pPr indent="-228600" defTabSz="914400">
              <a:lnSpc>
                <a:spcPct val="90000"/>
              </a:lnSpc>
              <a:spcAft>
                <a:spcPts val="600"/>
              </a:spcAft>
              <a:buFont typeface="Arial" panose="020B0604020202020204" pitchFamily="34" charset="0"/>
              <a:buChar char="•"/>
            </a:pPr>
            <a:r>
              <a:rPr lang="en-US" sz="6500" dirty="0">
                <a:solidFill>
                  <a:schemeClr val="tx2"/>
                </a:solidFill>
              </a:rPr>
              <a:t>most common words in titles</a:t>
            </a:r>
          </a:p>
          <a:p>
            <a:pPr indent="-228600" defTabSz="914400">
              <a:lnSpc>
                <a:spcPct val="90000"/>
              </a:lnSpc>
              <a:spcAft>
                <a:spcPts val="600"/>
              </a:spcAft>
              <a:buFont typeface="Arial" panose="020B0604020202020204" pitchFamily="34" charset="0"/>
              <a:buChar char="•"/>
            </a:pPr>
            <a:r>
              <a:rPr lang="en-US" sz="6500" dirty="0">
                <a:solidFill>
                  <a:schemeClr val="tx2"/>
                </a:solidFill>
              </a:rPr>
              <a:t>Number of comments per post</a:t>
            </a:r>
          </a:p>
          <a:p>
            <a:pPr indent="-228600" defTabSz="914400">
              <a:lnSpc>
                <a:spcPct val="90000"/>
              </a:lnSpc>
              <a:spcAft>
                <a:spcPts val="600"/>
              </a:spcAft>
              <a:buFont typeface="Arial" panose="020B0604020202020204" pitchFamily="34" charset="0"/>
              <a:buChar char="•"/>
            </a:pPr>
            <a:r>
              <a:rPr lang="en-US" sz="6500" dirty="0">
                <a:solidFill>
                  <a:schemeClr val="tx2"/>
                </a:solidFill>
              </a:rPr>
              <a:t>Comparison of engagement across posts</a:t>
            </a:r>
          </a:p>
          <a:p>
            <a:pPr indent="-228600" defTabSz="914400">
              <a:lnSpc>
                <a:spcPct val="90000"/>
              </a:lnSpc>
              <a:spcAft>
                <a:spcPts val="600"/>
              </a:spcAft>
              <a:buFont typeface="Arial" panose="020B0604020202020204" pitchFamily="34" charset="0"/>
              <a:buChar char="•"/>
            </a:pPr>
            <a:r>
              <a:rPr lang="en-US" sz="6500" dirty="0">
                <a:solidFill>
                  <a:schemeClr val="tx2"/>
                </a:solidFill>
              </a:rPr>
              <a:t>Distribution of comments </a:t>
            </a:r>
          </a:p>
        </p:txBody>
      </p:sp>
      <p:grpSp>
        <p:nvGrpSpPr>
          <p:cNvPr id="39" name="Group 38">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32609790" y="19902288"/>
            <a:ext cx="11312640" cy="13040664"/>
            <a:chOff x="-305" y="-4155"/>
            <a:chExt cx="2514948" cy="2174333"/>
          </a:xfrm>
          <a:solidFill>
            <a:schemeClr val="bg1">
              <a:alpha val="30000"/>
            </a:schemeClr>
          </a:solidFill>
        </p:grpSpPr>
        <p:sp>
          <p:nvSpPr>
            <p:cNvPr id="40" name="Freeform: Shape 39">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3" name="Freeform: Shape 42">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11806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C1E5815-D54C-487F-A054-6D4930ADE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891200" cy="32918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92CFB46-DA4B-476C-0B56-EC7179270EFE}"/>
              </a:ext>
            </a:extLst>
          </p:cNvPr>
          <p:cNvPicPr>
            <a:picLocks noChangeAspect="1"/>
          </p:cNvPicPr>
          <p:nvPr/>
        </p:nvPicPr>
        <p:blipFill>
          <a:blip r:embed="rId2"/>
          <a:srcRect l="5576" r="29065"/>
          <a:stretch>
            <a:fillRect/>
          </a:stretch>
        </p:blipFill>
        <p:spPr>
          <a:xfrm>
            <a:off x="795991" y="767534"/>
            <a:ext cx="21257985" cy="15173384"/>
          </a:xfrm>
          <a:prstGeom prst="rect">
            <a:avLst/>
          </a:prstGeom>
        </p:spPr>
      </p:pic>
      <p:sp>
        <p:nvSpPr>
          <p:cNvPr id="21" name="Freeform: Shape 20">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750585" y="0"/>
            <a:ext cx="7140615" cy="329184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8" name="Rectangle 1">
            <a:extLst>
              <a:ext uri="{FF2B5EF4-FFF2-40B4-BE49-F238E27FC236}">
                <a16:creationId xmlns:a16="http://schemas.microsoft.com/office/drawing/2014/main" id="{E94D2CDC-D77F-CFD3-F808-6770ED71837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914EB330-AFB1-7D97-D78D-8D0213435957}"/>
              </a:ext>
            </a:extLst>
          </p:cNvPr>
          <p:cNvSpPr>
            <a:spLocks noChangeArrowheads="1"/>
          </p:cNvSpPr>
          <p:nvPr/>
        </p:nvSpPr>
        <p:spPr bwMode="auto">
          <a:xfrm>
            <a:off x="0" y="-184666"/>
            <a:ext cx="15748000" cy="5874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6FABD35A-F066-C42A-1AA3-77C2E9AEFE15}"/>
              </a:ext>
            </a:extLst>
          </p:cNvPr>
          <p:cNvSpPr txBox="1"/>
          <p:nvPr/>
        </p:nvSpPr>
        <p:spPr>
          <a:xfrm>
            <a:off x="795991" y="16459200"/>
            <a:ext cx="24146666" cy="16712267"/>
          </a:xfrm>
          <a:prstGeom prst="rect">
            <a:avLst/>
          </a:prstGeom>
          <a:noFill/>
        </p:spPr>
        <p:txBody>
          <a:bodyPr wrap="square">
            <a:spAutoFit/>
          </a:bodyPr>
          <a:lstStyle/>
          <a:p>
            <a:r>
              <a:rPr lang="en-US" sz="7200" dirty="0"/>
              <a:t>The word frequency graph shows that a few words like “data” and “google” appear more often, indicating common trending topics.</a:t>
            </a:r>
          </a:p>
          <a:p>
            <a:r>
              <a:rPr lang="en-US" sz="7200" dirty="0"/>
              <a:t>This answers the question of what topics are trending, showing that only a few keywords dominate.</a:t>
            </a:r>
          </a:p>
          <a:p>
            <a:r>
              <a:rPr lang="en-US" sz="7200" dirty="0"/>
              <a:t>The comments per post graph shows that most posts have low to moderate comments, while a few posts have very high comment counts.</a:t>
            </a:r>
          </a:p>
          <a:p>
            <a:r>
              <a:rPr lang="en-US" sz="7200" dirty="0"/>
              <a:t>This indicates that user engagement is uneven, with only certain posts attracting a lot of discussion.</a:t>
            </a:r>
          </a:p>
          <a:p>
            <a:r>
              <a:rPr lang="en-US" sz="7200" dirty="0"/>
              <a:t>This answers the question of how users interact with posts, showing that some posts are much more popular than others.</a:t>
            </a:r>
          </a:p>
          <a:p>
            <a:r>
              <a:rPr lang="en-US" sz="7200" dirty="0"/>
              <a:t>Overall, the graphs show that trends and engagement are not evenly distributed across Reddit posts.</a:t>
            </a:r>
          </a:p>
        </p:txBody>
      </p:sp>
      <p:sp>
        <p:nvSpPr>
          <p:cNvPr id="18" name="TextBox 17">
            <a:extLst>
              <a:ext uri="{FF2B5EF4-FFF2-40B4-BE49-F238E27FC236}">
                <a16:creationId xmlns:a16="http://schemas.microsoft.com/office/drawing/2014/main" id="{BBB1A535-6B73-A90D-E34C-7EA672A9CD8F}"/>
              </a:ext>
            </a:extLst>
          </p:cNvPr>
          <p:cNvSpPr txBox="1"/>
          <p:nvPr/>
        </p:nvSpPr>
        <p:spPr>
          <a:xfrm>
            <a:off x="22053976" y="6248400"/>
            <a:ext cx="22633215" cy="4401205"/>
          </a:xfrm>
          <a:prstGeom prst="rect">
            <a:avLst/>
          </a:prstGeom>
          <a:noFill/>
        </p:spPr>
        <p:txBody>
          <a:bodyPr wrap="square">
            <a:spAutoFit/>
          </a:bodyPr>
          <a:lstStyle/>
          <a:p>
            <a:r>
              <a:rPr lang="en-US" sz="7000" b="1" dirty="0"/>
              <a:t>Improvements:</a:t>
            </a:r>
          </a:p>
          <a:p>
            <a:r>
              <a:rPr lang="en-US" sz="7000" dirty="0"/>
              <a:t>Use more subreddits to increase the size of the dataset </a:t>
            </a:r>
          </a:p>
          <a:p>
            <a:r>
              <a:rPr lang="en-US" sz="7000" dirty="0"/>
              <a:t>Analyze how trends change over time </a:t>
            </a:r>
          </a:p>
          <a:p>
            <a:r>
              <a:rPr lang="en-US" sz="7000" dirty="0"/>
              <a:t>Use more advanced visualizations </a:t>
            </a:r>
          </a:p>
        </p:txBody>
      </p:sp>
      <p:pic>
        <p:nvPicPr>
          <p:cNvPr id="20" name="Picture 19">
            <a:extLst>
              <a:ext uri="{FF2B5EF4-FFF2-40B4-BE49-F238E27FC236}">
                <a16:creationId xmlns:a16="http://schemas.microsoft.com/office/drawing/2014/main" id="{168927D7-C56E-593E-E2C2-49EAD62CA601}"/>
              </a:ext>
            </a:extLst>
          </p:cNvPr>
          <p:cNvPicPr>
            <a:picLocks noChangeAspect="1"/>
          </p:cNvPicPr>
          <p:nvPr/>
        </p:nvPicPr>
        <p:blipFill>
          <a:blip r:embed="rId3"/>
          <a:srcRect r="13904"/>
          <a:stretch>
            <a:fillRect/>
          </a:stretch>
        </p:blipFill>
        <p:spPr>
          <a:xfrm>
            <a:off x="24942657" y="12852401"/>
            <a:ext cx="18948543" cy="19982028"/>
          </a:xfrm>
          <a:prstGeom prst="rect">
            <a:avLst/>
          </a:prstGeom>
        </p:spPr>
      </p:pic>
    </p:spTree>
    <p:extLst>
      <p:ext uri="{BB962C8B-B14F-4D97-AF65-F5344CB8AC3E}">
        <p14:creationId xmlns:p14="http://schemas.microsoft.com/office/powerpoint/2010/main" val="10483589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6"/>
        </a:lnRef>
        <a:fillRef idx="1">
          <a:schemeClr val="lt1"/>
        </a:fillRef>
        <a:effectRef idx="0">
          <a:schemeClr val="accent6"/>
        </a:effectRef>
        <a:fontRef idx="minor">
          <a:schemeClr val="dk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335011f-1748-4902-8dee-6f4dac036859}" enabled="0" method="" siteId="{7335011f-1748-4902-8dee-6f4dac036859}" removed="1"/>
</clbl:labelList>
</file>

<file path=docProps/app.xml><?xml version="1.0" encoding="utf-8"?>
<Properties xmlns="http://schemas.openxmlformats.org/officeDocument/2006/extended-properties" xmlns:vt="http://schemas.openxmlformats.org/officeDocument/2006/docPropsVTypes">
  <Template>Office Theme</Template>
  <TotalTime>1910</TotalTime>
  <Words>592</Words>
  <Application>Microsoft Office PowerPoint</Application>
  <PresentationFormat>Custom</PresentationFormat>
  <Paragraphs>51</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Gudhibandi,Noshitha Reddy</dc:creator>
  <cp:lastModifiedBy>Gudhibandi,Noshitha Reddy</cp:lastModifiedBy>
  <cp:revision>16</cp:revision>
  <dcterms:created xsi:type="dcterms:W3CDTF">2025-03-18T22:06:16Z</dcterms:created>
  <dcterms:modified xsi:type="dcterms:W3CDTF">2026-04-29T04:18:09Z</dcterms:modified>
</cp:coreProperties>
</file>